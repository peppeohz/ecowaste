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baa41530-7314-c7d4-ed24-751e917c4d2b}">
          <p14:sldIdLst>
            <p14:sldId id="256"/>
          </p14:sldIdLst>
        </p14:section>
        <p14:section name="Visão geral" id="{7807fdbd-5527-1cf5-488f-ebeb97d74c87}">
          <p14:sldIdLst>
            <p14:sldId id="257"/>
          </p14:sldIdLst>
        </p14:section>
        <p14:section name="Pipeline CI/CD" id="{72170859-5458-0d85-312c-7aa782360564}">
          <p14:sldIdLst>
            <p14:sldId id="258"/>
            <p14:sldId id="259"/>
          </p14:sldIdLst>
        </p14:section>
        <p14:section name="Docker" id="{6907c693-e4e1-6bdb-cd12-086fc232a694}">
          <p14:sldIdLst>
            <p14:sldId id="260"/>
            <p14:sldId id="261"/>
            <p14:sldId id="262"/>
          </p14:sldIdLst>
        </p14:section>
        <p14:section name="Evidências" id="{bc400f81-d096-8fbf-6f79-d6c6ccd75532}">
          <p14:sldIdLst>
            <p14:sldId id="263"/>
            <p14:sldId id="264"/>
          </p14:sldIdLst>
        </p14:section>
        <p14:section name="Desafios" id="{34c1ed3b-3f26-cd53-4dbd-0946ab5d9cd2}">
          <p14:sldIdLst>
            <p14:sldId id="265"/>
          </p14:sldIdLst>
        </p14:section>
        <p14:section name="Checklist" id="{8035db75-816e-4375-0c60-8a0d3da68465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Apresentação da entrega DevOps do projeto EcoWaste: API .NET 8 de gestão de resíduos e reciclagem (tema ESG).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Substituir cada moldura pelo print correspondente da aba Actions do repositório (veja docs/prints/LEIA-ME.txt).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Substituir as molduras pelos prints do resumo (Summary) dos jobs 4 e 5, onde aparecem o health e o resultado dos smoke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6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EcoWaste · Cidades ESGInteligentes · Pedro H. Zanella (RM 564302)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-recycl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EcoWaste: DevOps aplicado à gestão de resíduos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74320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Cidades ESGInteligentes · Navegando pelo mundo DevOps</a:t>
            </a:r>
            <a:endParaRPr lang="en-US" sz="18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Integrante: Pedro Henrique Zanella · RM 564302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foi entregue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API EcoWaste (.NET 8 + Oracle) passou a ter o ciclo de vida inteiro automatizado: do commit ao deploy em dois ambientes.</a:t>
            </a:r>
            <a:endParaRPr lang="en-US" sz="1500" dirty="0"/>
          </a:p>
        </p:txBody>
      </p:sp>
      <p:sp>
        <p:nvSpPr>
          <p:cNvPr id="4" name="overview-card-0"/>
          <p:cNvSpPr/>
          <p:nvPr/>
        </p:nvSpPr>
        <p:spPr>
          <a:xfrm>
            <a:off x="457200" y="1691640"/>
            <a:ext cx="2560320" cy="27432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overview-0-circle"/>
          <p:cNvSpPr/>
          <p:nvPr/>
        </p:nvSpPr>
        <p:spPr>
          <a:xfrm>
            <a:off x="731520" y="19202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overview-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970" y="2091690"/>
            <a:ext cx="342900" cy="342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7432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Containerização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154680"/>
            <a:ext cx="2103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Dockerfile multi-stage, usuário não-root e healthcheck em /health</a:t>
            </a:r>
            <a:endParaRPr lang="en-US" sz="1400" dirty="0"/>
          </a:p>
        </p:txBody>
      </p:sp>
      <p:sp>
        <p:nvSpPr>
          <p:cNvPr id="9" name="overview-card-1"/>
          <p:cNvSpPr/>
          <p:nvPr/>
        </p:nvSpPr>
        <p:spPr>
          <a:xfrm>
            <a:off x="3291840" y="1691640"/>
            <a:ext cx="2560320" cy="27432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overview-1-circle"/>
          <p:cNvSpPr/>
          <p:nvPr/>
        </p:nvSpPr>
        <p:spPr>
          <a:xfrm>
            <a:off x="3566160" y="19202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overview-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7610" y="2091690"/>
            <a:ext cx="342900" cy="3429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66160" y="27432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Orquestração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3566160" y="3154680"/>
            <a:ext cx="2103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Docker Compose: API + Oracle 23ai Free, com volume, 2 redes e variáveis de ambiente</a:t>
            </a:r>
            <a:endParaRPr lang="en-US" sz="1400" dirty="0"/>
          </a:p>
        </p:txBody>
      </p:sp>
      <p:sp>
        <p:nvSpPr>
          <p:cNvPr id="14" name="overview-card-2"/>
          <p:cNvSpPr/>
          <p:nvPr/>
        </p:nvSpPr>
        <p:spPr>
          <a:xfrm>
            <a:off x="6126480" y="1691640"/>
            <a:ext cx="2560320" cy="27432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overview-2-circle"/>
          <p:cNvSpPr/>
          <p:nvPr/>
        </p:nvSpPr>
        <p:spPr>
          <a:xfrm>
            <a:off x="6400800" y="19202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overview-2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0" y="2091690"/>
            <a:ext cx="342900" cy="3429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00800" y="27432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6400800" y="3154680"/>
            <a:ext cx="2103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GitHub Actions: build, testes, imagem no GHCR, deploy em staging e produção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Actions: 5 etapas encadeadas</a:t>
            </a:r>
            <a:endParaRPr lang="en-US" sz="3000" dirty="0"/>
          </a:p>
        </p:txBody>
      </p:sp>
      <p:sp>
        <p:nvSpPr>
          <p:cNvPr id="3" name="step-0-circle"/>
          <p:cNvSpPr/>
          <p:nvPr/>
        </p:nvSpPr>
        <p:spPr>
          <a:xfrm>
            <a:off x="868680" y="123444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step-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417320"/>
            <a:ext cx="365760" cy="365760"/>
          </a:xfrm>
          <a:prstGeom prst="rect">
            <a:avLst/>
          </a:prstGeom>
        </p:spPr>
      </p:pic>
      <p:sp>
        <p:nvSpPr>
          <p:cNvPr id="5" name="step-arrow-0"/>
          <p:cNvSpPr/>
          <p:nvPr/>
        </p:nvSpPr>
        <p:spPr>
          <a:xfrm>
            <a:off x="1691640" y="1600200"/>
            <a:ext cx="777240" cy="0"/>
          </a:xfrm>
          <a:prstGeom prst="line">
            <a:avLst/>
          </a:prstGeom>
          <a:noFill/>
          <a:ln w="19050">
            <a:solidFill>
              <a:srgbClr val="7A8B82"/>
            </a:solidFill>
            <a:prstDash val="solid"/>
            <a:tailEnd type="triangle"/>
          </a:ln>
        </p:spPr>
      </p:sp>
      <p:sp>
        <p:nvSpPr>
          <p:cNvPr id="6" name="Text 3"/>
          <p:cNvSpPr txBox="1"/>
          <p:nvPr/>
        </p:nvSpPr>
        <p:spPr>
          <a:xfrm>
            <a:off x="457200" y="2103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1. Build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4688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dotnet restore + build Release + publish (artefato)</a:t>
            </a:r>
            <a:endParaRPr lang="en-US" sz="1200" dirty="0"/>
          </a:p>
        </p:txBody>
      </p:sp>
      <p:sp>
        <p:nvSpPr>
          <p:cNvPr id="8" name="step-1-circle"/>
          <p:cNvSpPr/>
          <p:nvPr/>
        </p:nvSpPr>
        <p:spPr>
          <a:xfrm>
            <a:off x="2560320" y="123444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step-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417320"/>
            <a:ext cx="365760" cy="365760"/>
          </a:xfrm>
          <a:prstGeom prst="rect">
            <a:avLst/>
          </a:prstGeom>
        </p:spPr>
      </p:pic>
      <p:sp>
        <p:nvSpPr>
          <p:cNvPr id="10" name="step-arrow-1"/>
          <p:cNvSpPr/>
          <p:nvPr/>
        </p:nvSpPr>
        <p:spPr>
          <a:xfrm>
            <a:off x="3383280" y="1600200"/>
            <a:ext cx="777240" cy="0"/>
          </a:xfrm>
          <a:prstGeom prst="line">
            <a:avLst/>
          </a:prstGeom>
          <a:noFill/>
          <a:ln w="19050">
            <a:solidFill>
              <a:srgbClr val="7A8B82"/>
            </a:solidFill>
            <a:prstDash val="solid"/>
            <a:tailEnd type="triangle"/>
          </a:ln>
        </p:spPr>
      </p:sp>
      <p:sp>
        <p:nvSpPr>
          <p:cNvPr id="11" name="Text 7"/>
          <p:cNvSpPr txBox="1"/>
          <p:nvPr/>
        </p:nvSpPr>
        <p:spPr>
          <a:xfrm>
            <a:off x="2148840" y="2103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2. Testes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2148840" y="24688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dotnet test (xUnit, 10 testes) com relatório .trx</a:t>
            </a:r>
            <a:endParaRPr lang="en-US" sz="1200" dirty="0"/>
          </a:p>
        </p:txBody>
      </p:sp>
      <p:sp>
        <p:nvSpPr>
          <p:cNvPr id="13" name="step-2-circle"/>
          <p:cNvSpPr/>
          <p:nvPr/>
        </p:nvSpPr>
        <p:spPr>
          <a:xfrm>
            <a:off x="4251960" y="123444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step-2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417320"/>
            <a:ext cx="365760" cy="365760"/>
          </a:xfrm>
          <a:prstGeom prst="rect">
            <a:avLst/>
          </a:prstGeom>
        </p:spPr>
      </p:pic>
      <p:sp>
        <p:nvSpPr>
          <p:cNvPr id="15" name="step-arrow-2"/>
          <p:cNvSpPr/>
          <p:nvPr/>
        </p:nvSpPr>
        <p:spPr>
          <a:xfrm>
            <a:off x="5074920" y="1600200"/>
            <a:ext cx="777240" cy="0"/>
          </a:xfrm>
          <a:prstGeom prst="line">
            <a:avLst/>
          </a:prstGeom>
          <a:noFill/>
          <a:ln w="19050">
            <a:solidFill>
              <a:srgbClr val="7A8B82"/>
            </a:solidFill>
            <a:prstDash val="solid"/>
            <a:tailEnd type="triangle"/>
          </a:ln>
        </p:spPr>
      </p:sp>
      <p:sp>
        <p:nvSpPr>
          <p:cNvPr id="16" name="Text 11"/>
          <p:cNvSpPr txBox="1"/>
          <p:nvPr/>
        </p:nvSpPr>
        <p:spPr>
          <a:xfrm>
            <a:off x="3840480" y="2103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3. Imagem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3840480" y="24688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docker build + push no GHCR (tag = SHA do commit)</a:t>
            </a:r>
            <a:endParaRPr lang="en-US" sz="1200" dirty="0"/>
          </a:p>
        </p:txBody>
      </p:sp>
      <p:sp>
        <p:nvSpPr>
          <p:cNvPr id="18" name="step-3-circle"/>
          <p:cNvSpPr/>
          <p:nvPr/>
        </p:nvSpPr>
        <p:spPr>
          <a:xfrm>
            <a:off x="5943600" y="123444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9" name="step-3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417320"/>
            <a:ext cx="365760" cy="365760"/>
          </a:xfrm>
          <a:prstGeom prst="rect">
            <a:avLst/>
          </a:prstGeom>
        </p:spPr>
      </p:pic>
      <p:sp>
        <p:nvSpPr>
          <p:cNvPr id="20" name="step-arrow-3"/>
          <p:cNvSpPr/>
          <p:nvPr/>
        </p:nvSpPr>
        <p:spPr>
          <a:xfrm>
            <a:off x="6766560" y="1600200"/>
            <a:ext cx="777240" cy="0"/>
          </a:xfrm>
          <a:prstGeom prst="line">
            <a:avLst/>
          </a:prstGeom>
          <a:noFill/>
          <a:ln w="19050">
            <a:solidFill>
              <a:srgbClr val="7A8B82"/>
            </a:solidFill>
            <a:prstDash val="solid"/>
            <a:tailEnd type="triangle"/>
          </a:ln>
        </p:spPr>
      </p:sp>
      <p:sp>
        <p:nvSpPr>
          <p:cNvPr id="21" name="Text 15"/>
          <p:cNvSpPr txBox="1"/>
          <p:nvPr/>
        </p:nvSpPr>
        <p:spPr>
          <a:xfrm>
            <a:off x="5532120" y="2103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4. Staging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5532120" y="24688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compose up + health + smoke tests (porta 8081)</a:t>
            </a:r>
            <a:endParaRPr lang="en-US" sz="1200" dirty="0"/>
          </a:p>
        </p:txBody>
      </p:sp>
      <p:sp>
        <p:nvSpPr>
          <p:cNvPr id="23" name="step-4-circle"/>
          <p:cNvSpPr/>
          <p:nvPr/>
        </p:nvSpPr>
        <p:spPr>
          <a:xfrm>
            <a:off x="7635240" y="123444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4" name="step-4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0" y="1417320"/>
            <a:ext cx="365760" cy="36576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223760" y="2103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5. Produção</a:t>
            </a:r>
            <a:endParaRPr lang="en-US" sz="1600" dirty="0"/>
          </a:p>
        </p:txBody>
      </p:sp>
      <p:sp>
        <p:nvSpPr>
          <p:cNvPr id="26" name="Text 19"/>
          <p:cNvSpPr txBox="1"/>
          <p:nvPr/>
        </p:nvSpPr>
        <p:spPr>
          <a:xfrm>
            <a:off x="7223760" y="24688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só na main, após staging OK (porta 8080)</a:t>
            </a:r>
            <a:endParaRPr lang="en-US" sz="1200" dirty="0"/>
          </a:p>
        </p:txBody>
      </p:sp>
      <p:sp>
        <p:nvSpPr>
          <p:cNvPr id="27" name="pipeline-logic"/>
          <p:cNvSpPr/>
          <p:nvPr/>
        </p:nvSpPr>
        <p:spPr>
          <a:xfrm>
            <a:off x="457200" y="3611880"/>
            <a:ext cx="822960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685800" y="370332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Lógica: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cada job depende do anterior (needs). Se uma etapa falha, nada é implantado. A mesma imagem testada em staging é a que vai para produção. Arquivo: .github/workflows/ci-cd.yml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cada etapa roda</a:t>
            </a:r>
            <a:endParaRPr lang="en-US" sz="3000" dirty="0"/>
          </a:p>
        </p:txBody>
      </p:sp>
      <p:graphicFrame>
        <p:nvGraphicFramePr>
          <p:cNvPr id="5" name="trigger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493776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594360"/>
                <a:gridCol w="658368"/>
                <a:gridCol w="749808"/>
                <a:gridCol w="749808"/>
                <a:gridCol w="859536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Evento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Build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Testes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Imagem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Staging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Produção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Pull Request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✔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✔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Push em develop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✔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✔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✔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✔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Push em main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✔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✔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✔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✔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✔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F"/>
                    </a:solidFill>
                  </a:tcPr>
                </a:tc>
              </a:tr>
            </a:tbl>
          </a:graphicData>
        </a:graphic>
      </p:graphicFrame>
      <p:sp>
        <p:nvSpPr>
          <p:cNvPr id="4" name="secrets-card"/>
          <p:cNvSpPr/>
          <p:nvPr/>
        </p:nvSpPr>
        <p:spPr>
          <a:xfrm>
            <a:off x="5669280" y="1097280"/>
            <a:ext cx="3017520" cy="26060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852160" y="1234440"/>
            <a:ext cx="2697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Ambientes e segredos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GitHub Environments staging e production (aprovação manual opcional em production)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Senhas e chave JWT nos GitHub Secrets, nunca no código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Config. não sensível em env/staging.env e env/production.env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8803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Smoke tests pós-deploy: health + Swagger + login JWT + listagem + 401 sem token + registro de resíduo + relatório + alertas.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dos containers</a:t>
            </a:r>
            <a:endParaRPr lang="en-US" sz="3000" dirty="0"/>
          </a:p>
        </p:txBody>
      </p:sp>
      <p:sp>
        <p:nvSpPr>
          <p:cNvPr id="3" name="arch-client-circle"/>
          <p:cNvSpPr/>
          <p:nvPr/>
        </p:nvSpPr>
        <p:spPr>
          <a:xfrm>
            <a:off x="548640" y="2148840"/>
            <a:ext cx="731520" cy="7315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arch-client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331720"/>
            <a:ext cx="365760" cy="365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74320" y="2926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Cliente / pipeline</a:t>
            </a:r>
            <a:endParaRPr lang="en-US" sz="1200" dirty="0"/>
          </a:p>
        </p:txBody>
      </p:sp>
      <p:sp>
        <p:nvSpPr>
          <p:cNvPr id="6" name="arch-arrow-1"/>
          <p:cNvSpPr/>
          <p:nvPr/>
        </p:nvSpPr>
        <p:spPr>
          <a:xfrm>
            <a:off x="1325880" y="2514600"/>
            <a:ext cx="822960" cy="0"/>
          </a:xfrm>
          <a:prstGeom prst="line">
            <a:avLst/>
          </a:prstGeom>
          <a:noFill/>
          <a:ln w="19050">
            <a:solidFill>
              <a:srgbClr val="7A8B82"/>
            </a:solidFill>
            <a:prstDash val="solid"/>
            <a:tailEnd type="triangle"/>
          </a:ln>
        </p:spPr>
      </p:sp>
      <p:sp>
        <p:nvSpPr>
          <p:cNvPr id="7" name="Text 4"/>
          <p:cNvSpPr txBox="1"/>
          <p:nvPr/>
        </p:nvSpPr>
        <p:spPr>
          <a:xfrm>
            <a:off x="1234440" y="21945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:8080 / :8081</a:t>
            </a:r>
            <a:endParaRPr lang="en-US" sz="1000" dirty="0"/>
          </a:p>
        </p:txBody>
      </p:sp>
      <p:sp>
        <p:nvSpPr>
          <p:cNvPr id="8" name="net-frontend"/>
          <p:cNvSpPr/>
          <p:nvPr/>
        </p:nvSpPr>
        <p:spPr>
          <a:xfrm>
            <a:off x="2194560" y="1143000"/>
            <a:ext cx="2743200" cy="338328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9" name="Text 6"/>
          <p:cNvSpPr txBox="1"/>
          <p:nvPr/>
        </p:nvSpPr>
        <p:spPr>
          <a:xfrm>
            <a:off x="2331720" y="12070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rede frontend</a:t>
            </a:r>
            <a:endParaRPr lang="en-US" sz="1100" dirty="0"/>
          </a:p>
        </p:txBody>
      </p:sp>
      <p:sp>
        <p:nvSpPr>
          <p:cNvPr id="10" name="net-backend"/>
          <p:cNvSpPr/>
          <p:nvPr/>
        </p:nvSpPr>
        <p:spPr>
          <a:xfrm>
            <a:off x="3291840" y="1600200"/>
            <a:ext cx="5394960" cy="2743200"/>
          </a:xfrm>
          <a:prstGeom prst="roundRect">
            <a:avLst>
              <a:gd name="adj" fmla="val 2667"/>
            </a:avLst>
          </a:prstGeom>
          <a:solidFill>
            <a:srgbClr val="E3EFE6"/>
          </a:solidFill>
          <a:ln w="12700">
            <a:solidFill>
              <a:srgbClr val="163D2E"/>
            </a:solidFill>
            <a:prstDash val="dash"/>
          </a:ln>
        </p:spPr>
      </p:sp>
      <p:sp>
        <p:nvSpPr>
          <p:cNvPr id="11" name="Text 8"/>
          <p:cNvSpPr txBox="1"/>
          <p:nvPr/>
        </p:nvSpPr>
        <p:spPr>
          <a:xfrm>
            <a:off x="6309360" y="16642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rede backend (internal)</a:t>
            </a:r>
            <a:endParaRPr lang="en-US" sz="1100" dirty="0"/>
          </a:p>
        </p:txBody>
      </p:sp>
      <p:sp>
        <p:nvSpPr>
          <p:cNvPr id="12" name="arch-api"/>
          <p:cNvSpPr/>
          <p:nvPr/>
        </p:nvSpPr>
        <p:spPr>
          <a:xfrm>
            <a:off x="2743200" y="2057400"/>
            <a:ext cx="1920240" cy="1371600"/>
          </a:xfrm>
          <a:prstGeom prst="roundRect">
            <a:avLst>
              <a:gd name="adj" fmla="val 5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arch-api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219456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926080" y="2606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api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ASP.NET 8 · /health</a:t>
            </a:r>
            <a:endParaRPr lang="en-US" sz="1500" dirty="0"/>
          </a:p>
        </p:txBody>
      </p:sp>
      <p:sp>
        <p:nvSpPr>
          <p:cNvPr id="15" name="arch-arrow-2"/>
          <p:cNvSpPr/>
          <p:nvPr/>
        </p:nvSpPr>
        <p:spPr>
          <a:xfrm>
            <a:off x="4663440" y="2743200"/>
            <a:ext cx="914400" cy="0"/>
          </a:xfrm>
          <a:prstGeom prst="line">
            <a:avLst/>
          </a:prstGeom>
          <a:noFill/>
          <a:ln w="19050">
            <a:solidFill>
              <a:srgbClr val="163D2E"/>
            </a:solidFill>
            <a:prstDash val="solid"/>
            <a:tailEnd type="triangle"/>
          </a:ln>
        </p:spPr>
      </p:sp>
      <p:sp>
        <p:nvSpPr>
          <p:cNvPr id="16" name="Text 12"/>
          <p:cNvSpPr txBox="1"/>
          <p:nvPr/>
        </p:nvSpPr>
        <p:spPr>
          <a:xfrm>
            <a:off x="4663440" y="2423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db:1521</a:t>
            </a:r>
            <a:endParaRPr lang="en-US" sz="1000" dirty="0"/>
          </a:p>
        </p:txBody>
      </p:sp>
      <p:sp>
        <p:nvSpPr>
          <p:cNvPr id="17" name="arch-db"/>
          <p:cNvSpPr/>
          <p:nvPr/>
        </p:nvSpPr>
        <p:spPr>
          <a:xfrm>
            <a:off x="5623560" y="2057400"/>
            <a:ext cx="1920240" cy="13716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8" name="arch-db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19456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806440" y="2606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db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Oracle 23ai Free</a:t>
            </a:r>
            <a:endParaRPr lang="en-US" sz="1500" dirty="0"/>
          </a:p>
        </p:txBody>
      </p:sp>
      <p:pic>
        <p:nvPicPr>
          <p:cNvPr id="20" name="arch-vol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365760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217920" y="3611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volume oracle-data → /opt/oracle/oradata</a:t>
            </a:r>
            <a:endParaRPr lang="en-US" sz="1100" dirty="0"/>
          </a:p>
        </p:txBody>
      </p:sp>
      <p:sp>
        <p:nvSpPr>
          <p:cNvPr id="22" name="Text 16"/>
          <p:cNvSpPr txBox="1"/>
          <p:nvPr/>
        </p:nvSpPr>
        <p:spPr>
          <a:xfrm>
            <a:off x="3429000" y="3931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tx1"/>
                </a:solidFill>
              </a:rPr>
              <a:t>API só sobe com o banco saudável (depends_on: service_healthy)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Imagem criada: Dockerfile multi-stage</a:t>
            </a:r>
            <a:endParaRPr lang="en-US" sz="3000" dirty="0"/>
          </a:p>
        </p:txBody>
      </p:sp>
      <p:sp>
        <p:nvSpPr>
          <p:cNvPr id="3" name="stage-build"/>
          <p:cNvSpPr/>
          <p:nvPr/>
        </p:nvSpPr>
        <p:spPr>
          <a:xfrm>
            <a:off x="457200" y="1097280"/>
            <a:ext cx="3931920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34440"/>
            <a:ext cx="35204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Estágio build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mcr.microsoft.com/dotnet/sdk:8.0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Copia só o .csproj e roda restore (camada em cache)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Copia src/ e roda dotnet publish -c Release</a:t>
            </a:r>
            <a:endParaRPr lang="en-US" sz="1400" dirty="0"/>
          </a:p>
        </p:txBody>
      </p:sp>
      <p:sp>
        <p:nvSpPr>
          <p:cNvPr id="5" name="stage-arrow"/>
          <p:cNvSpPr/>
          <p:nvPr/>
        </p:nvSpPr>
        <p:spPr>
          <a:xfrm>
            <a:off x="4434840" y="2423160"/>
            <a:ext cx="274320" cy="0"/>
          </a:xfrm>
          <a:prstGeom prst="line">
            <a:avLst/>
          </a:prstGeom>
          <a:noFill/>
          <a:ln w="19050">
            <a:solidFill>
              <a:srgbClr val="7A8B82"/>
            </a:solidFill>
            <a:prstDash val="solid"/>
            <a:tailEnd type="triangle"/>
          </a:ln>
        </p:spPr>
      </p:sp>
      <p:sp>
        <p:nvSpPr>
          <p:cNvPr id="6" name="stage-final"/>
          <p:cNvSpPr/>
          <p:nvPr/>
        </p:nvSpPr>
        <p:spPr>
          <a:xfrm>
            <a:off x="4754880" y="1097280"/>
            <a:ext cx="3931920" cy="2651760"/>
          </a:xfrm>
          <a:prstGeom prst="roundRect">
            <a:avLst>
              <a:gd name="adj" fmla="val 275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83480" y="1234440"/>
            <a:ext cx="35204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Estágio final (runtime)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mcr.microsoft.com/dotnet/aspnet:8.0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Só o runtime + app publicada (imagem enxuta)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USER app (não-root), porta 8080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HEALTHCHECK com curl em /health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Publicada em ghcr.io/&lt;usuário&gt;/ecowaste-api:&lt;sha&gt;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Uma imagem, vários ambientes: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mesma imagem testada em staging vai para produção. Só mudam as variáveis de ambiente (ASPNETCORE_ENVIRONMENT, connection string, chave JWT).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Comandos utilizados</a:t>
            </a:r>
            <a:endParaRPr lang="en-US" sz="3000" dirty="0"/>
          </a:p>
        </p:txBody>
      </p:sp>
      <p:sp>
        <p:nvSpPr>
          <p:cNvPr id="3" name="cmd-box"/>
          <p:cNvSpPr/>
          <p:nvPr/>
        </p:nvSpPr>
        <p:spPr>
          <a:xfrm>
            <a:off x="457200" y="1051560"/>
            <a:ext cx="8229600" cy="3520440"/>
          </a:xfrm>
          <a:prstGeom prst="roundRect">
            <a:avLst>
              <a:gd name="adj" fmla="val 207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76809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build -t ecowaste-api:local .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# build da imagem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compose up -d --build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# sobe api + db localmente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compose ps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# status e health dos serviços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compose logs -f api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# acompanha os logs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./scripts/deploy.sh staging &lt;imagem&gt;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# deploy staging (porta 8081)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./scripts/deploy.sh production &lt;imagem&gt;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# deploy produção (porta 8080)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./scripts/smoke-test.sh http://localhost:8081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# valida a API implantada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compose down -v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# derruba e limpa o volume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rodando: build, testes e deploy</a:t>
            </a:r>
            <a:endParaRPr lang="en-US" sz="3000" dirty="0"/>
          </a:p>
        </p:txBody>
      </p:sp>
      <p:sp>
        <p:nvSpPr>
          <p:cNvPr id="3" name="shot-pipeline"/>
          <p:cNvSpPr/>
          <p:nvPr/>
        </p:nvSpPr>
        <p:spPr>
          <a:xfrm>
            <a:off x="457200" y="1051560"/>
            <a:ext cx="3977640" cy="169164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 w="12700">
            <a:solidFill>
              <a:srgbClr val="7A8B82"/>
            </a:solidFill>
            <a:prstDash val="dash"/>
          </a:ln>
        </p:spPr>
      </p:sp>
      <p:pic>
        <p:nvPicPr>
          <p:cNvPr id="4" name="shot-pipeline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4852" y="1394460"/>
            <a:ext cx="402336" cy="402336"/>
          </a:xfrm>
          <a:prstGeom prst="rect">
            <a:avLst/>
          </a:prstGeom>
        </p:spPr>
      </p:pic>
      <p:sp>
        <p:nvSpPr>
          <p:cNvPr id="5" name="shot-pipeline-label"/>
          <p:cNvSpPr txBox="1"/>
          <p:nvPr/>
        </p:nvSpPr>
        <p:spPr>
          <a:xfrm>
            <a:off x="594360" y="185166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Execução completa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Actions: os 5 jobs concluídos</a:t>
            </a:r>
            <a:endParaRPr lang="en-US" sz="1300" dirty="0"/>
          </a:p>
        </p:txBody>
      </p:sp>
      <p:sp>
        <p:nvSpPr>
          <p:cNvPr id="6" name="shot-build"/>
          <p:cNvSpPr/>
          <p:nvPr/>
        </p:nvSpPr>
        <p:spPr>
          <a:xfrm>
            <a:off x="4709160" y="1051560"/>
            <a:ext cx="3977640" cy="169164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 w="12700">
            <a:solidFill>
              <a:srgbClr val="7A8B82"/>
            </a:solidFill>
            <a:prstDash val="dash"/>
          </a:ln>
        </p:spPr>
      </p:sp>
      <p:pic>
        <p:nvPicPr>
          <p:cNvPr id="7" name="shot-build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6812" y="1394460"/>
            <a:ext cx="402336" cy="402336"/>
          </a:xfrm>
          <a:prstGeom prst="rect">
            <a:avLst/>
          </a:prstGeom>
        </p:spPr>
      </p:pic>
      <p:sp>
        <p:nvSpPr>
          <p:cNvPr id="8" name="shot-build-label"/>
          <p:cNvSpPr txBox="1"/>
          <p:nvPr/>
        </p:nvSpPr>
        <p:spPr>
          <a:xfrm>
            <a:off x="4846320" y="185166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Build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job 1. Build</a:t>
            </a:r>
            <a:endParaRPr lang="en-US" sz="1300" dirty="0"/>
          </a:p>
        </p:txBody>
      </p:sp>
      <p:sp>
        <p:nvSpPr>
          <p:cNvPr id="9" name="shot-tests"/>
          <p:cNvSpPr/>
          <p:nvPr/>
        </p:nvSpPr>
        <p:spPr>
          <a:xfrm>
            <a:off x="457200" y="2926080"/>
            <a:ext cx="3977640" cy="169164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 w="12700">
            <a:solidFill>
              <a:srgbClr val="7A8B82"/>
            </a:solidFill>
            <a:prstDash val="dash"/>
          </a:ln>
        </p:spPr>
      </p:sp>
      <p:pic>
        <p:nvPicPr>
          <p:cNvPr id="10" name="shot-tests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4852" y="3268980"/>
            <a:ext cx="402336" cy="402336"/>
          </a:xfrm>
          <a:prstGeom prst="rect">
            <a:avLst/>
          </a:prstGeom>
        </p:spPr>
      </p:pic>
      <p:sp>
        <p:nvSpPr>
          <p:cNvPr id="11" name="shot-tests-label"/>
          <p:cNvSpPr txBox="1"/>
          <p:nvPr/>
        </p:nvSpPr>
        <p:spPr>
          <a:xfrm>
            <a:off x="594360" y="372618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Testes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job 2. Testes: linha Passed!</a:t>
            </a:r>
            <a:endParaRPr lang="en-US" sz="1300" dirty="0"/>
          </a:p>
        </p:txBody>
      </p:sp>
      <p:sp>
        <p:nvSpPr>
          <p:cNvPr id="12" name="shot-deploy"/>
          <p:cNvSpPr/>
          <p:nvPr/>
        </p:nvSpPr>
        <p:spPr>
          <a:xfrm>
            <a:off x="4709160" y="2926080"/>
            <a:ext cx="3977640" cy="169164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 w="12700">
            <a:solidFill>
              <a:srgbClr val="7A8B82"/>
            </a:solidFill>
            <a:prstDash val="dash"/>
          </a:ln>
        </p:spPr>
      </p:sp>
      <p:pic>
        <p:nvPicPr>
          <p:cNvPr id="13" name="shot-deploy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6812" y="3268980"/>
            <a:ext cx="402336" cy="402336"/>
          </a:xfrm>
          <a:prstGeom prst="rect">
            <a:avLst/>
          </a:prstGeom>
        </p:spPr>
      </p:pic>
      <p:sp>
        <p:nvSpPr>
          <p:cNvPr id="14" name="shot-deploy-label"/>
          <p:cNvSpPr txBox="1"/>
          <p:nvPr/>
        </p:nvSpPr>
        <p:spPr>
          <a:xfrm>
            <a:off x="4846320" y="372618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Imagem / Deploy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job 3 (GHCR) ou jobs 4 e 5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Ambientes staging e produção funcionando</a:t>
            </a:r>
            <a:endParaRPr lang="en-US" sz="3000" dirty="0"/>
          </a:p>
        </p:txBody>
      </p:sp>
      <p:sp>
        <p:nvSpPr>
          <p:cNvPr id="3" name="shot-staging"/>
          <p:cNvSpPr/>
          <p:nvPr/>
        </p:nvSpPr>
        <p:spPr>
          <a:xfrm>
            <a:off x="457200" y="1051560"/>
            <a:ext cx="3977640" cy="274320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12700">
            <a:solidFill>
              <a:srgbClr val="7A8B82"/>
            </a:solidFill>
            <a:prstDash val="dash"/>
          </a:ln>
        </p:spPr>
      </p:sp>
      <p:pic>
        <p:nvPicPr>
          <p:cNvPr id="4" name="shot-staging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4852" y="1920240"/>
            <a:ext cx="402336" cy="402336"/>
          </a:xfrm>
          <a:prstGeom prst="rect">
            <a:avLst/>
          </a:prstGeom>
        </p:spPr>
      </p:pic>
      <p:sp>
        <p:nvSpPr>
          <p:cNvPr id="5" name="shot-staging-label"/>
          <p:cNvSpPr txBox="1"/>
          <p:nvPr/>
        </p:nvSpPr>
        <p:spPr>
          <a:xfrm>
            <a:off x="594360" y="237744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Staging (porta 8081)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/health com environment: Staging + smoke tests</a:t>
            </a:r>
            <a:endParaRPr lang="en-US" sz="1300" dirty="0"/>
          </a:p>
        </p:txBody>
      </p:sp>
      <p:sp>
        <p:nvSpPr>
          <p:cNvPr id="6" name="shot-prod"/>
          <p:cNvSpPr/>
          <p:nvPr/>
        </p:nvSpPr>
        <p:spPr>
          <a:xfrm>
            <a:off x="4709160" y="1051560"/>
            <a:ext cx="3977640" cy="274320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12700">
            <a:solidFill>
              <a:srgbClr val="7A8B82"/>
            </a:solidFill>
            <a:prstDash val="dash"/>
          </a:ln>
        </p:spPr>
      </p:sp>
      <p:pic>
        <p:nvPicPr>
          <p:cNvPr id="7" name="shot-prod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6812" y="1920240"/>
            <a:ext cx="402336" cy="402336"/>
          </a:xfrm>
          <a:prstGeom prst="rect">
            <a:avLst/>
          </a:prstGeom>
        </p:spPr>
      </p:pic>
      <p:sp>
        <p:nvSpPr>
          <p:cNvPr id="8" name="shot-prod-label"/>
          <p:cNvSpPr txBox="1"/>
          <p:nvPr/>
        </p:nvSpPr>
        <p:spPr>
          <a:xfrm>
            <a:off x="4846320" y="237744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Produção (porta 8080)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/health com environment: Production + smoke tests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3977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tx1"/>
                </a:solidFill>
              </a:rPr>
              <a:t>Evidências em texto: artifacts evidencias-staging e evidencias-production de cada execução (logs, containers, health JSON).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Desafios encontrados e soluções</a:t>
            </a:r>
            <a:endParaRPr lang="en-US" sz="3000" dirty="0"/>
          </a:p>
        </p:txBody>
      </p:sp>
      <p:sp>
        <p:nvSpPr>
          <p:cNvPr id="3" name="challenge-0"/>
          <p:cNvSpPr/>
          <p:nvPr/>
        </p:nvSpPr>
        <p:spPr>
          <a:xfrm>
            <a:off x="457200" y="1051560"/>
            <a:ext cx="822960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051560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Banco Oracle da FIAP não roda em container</a:t>
            </a:r>
            <a:endParaRPr lang="en-US" sz="1300" dirty="0"/>
          </a:p>
        </p:txBody>
      </p:sp>
      <p:sp>
        <p:nvSpPr>
          <p:cNvPr id="5" name="challenge-arrow-0"/>
          <p:cNvSpPr/>
          <p:nvPr/>
        </p:nvSpPr>
        <p:spPr>
          <a:xfrm>
            <a:off x="4023360" y="1362456"/>
            <a:ext cx="320040" cy="0"/>
          </a:xfrm>
          <a:prstGeom prst="line">
            <a:avLst/>
          </a:prstGeom>
          <a:noFill/>
          <a:ln w="19050">
            <a:solidFill>
              <a:srgbClr val="F2A541"/>
            </a:solidFill>
            <a:prstDash val="solid"/>
            <a:tailEnd type="triangle"/>
          </a:ln>
        </p:spPr>
      </p:sp>
      <p:sp>
        <p:nvSpPr>
          <p:cNvPr id="6" name="Text 4"/>
          <p:cNvSpPr txBox="1"/>
          <p:nvPr/>
        </p:nvSpPr>
        <p:spPr>
          <a:xfrm>
            <a:off x="4480560" y="1051560"/>
            <a:ext cx="4069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Oracle 23ai Free (gvenzl/oracle-free) no Compose, mantendo o provider e as migrations Oracle</a:t>
            </a:r>
            <a:endParaRPr lang="en-US" sz="1200" dirty="0"/>
          </a:p>
        </p:txBody>
      </p:sp>
      <p:sp>
        <p:nvSpPr>
          <p:cNvPr id="7" name="challenge-1"/>
          <p:cNvSpPr/>
          <p:nvPr/>
        </p:nvSpPr>
        <p:spPr>
          <a:xfrm>
            <a:off x="457200" y="1783080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783080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Senha do banco e chave JWT no appsettings.json</a:t>
            </a:r>
            <a:endParaRPr lang="en-US" sz="1300" dirty="0"/>
          </a:p>
        </p:txBody>
      </p:sp>
      <p:sp>
        <p:nvSpPr>
          <p:cNvPr id="9" name="challenge-arrow-1"/>
          <p:cNvSpPr/>
          <p:nvPr/>
        </p:nvSpPr>
        <p:spPr>
          <a:xfrm>
            <a:off x="4023360" y="2093976"/>
            <a:ext cx="320040" cy="0"/>
          </a:xfrm>
          <a:prstGeom prst="line">
            <a:avLst/>
          </a:prstGeom>
          <a:noFill/>
          <a:ln w="19050">
            <a:solidFill>
              <a:srgbClr val="F2A541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4480560" y="1783080"/>
            <a:ext cx="4069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Variáveis de ambiente + GitHub Secrets; .env fora do Git; .env.example como modelo</a:t>
            </a:r>
            <a:endParaRPr lang="en-US" sz="1200" dirty="0"/>
          </a:p>
        </p:txBody>
      </p:sp>
      <p:sp>
        <p:nvSpPr>
          <p:cNvPr id="11" name="challenge-2"/>
          <p:cNvSpPr/>
          <p:nvPr/>
        </p:nvSpPr>
        <p:spPr>
          <a:xfrm>
            <a:off x="457200" y="2514600"/>
            <a:ext cx="822960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514600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Oracle demora a iniciar e a API caía no startup</a:t>
            </a:r>
            <a:endParaRPr lang="en-US" sz="1300" dirty="0"/>
          </a:p>
        </p:txBody>
      </p:sp>
      <p:sp>
        <p:nvSpPr>
          <p:cNvPr id="13" name="challenge-arrow-2"/>
          <p:cNvSpPr/>
          <p:nvPr/>
        </p:nvSpPr>
        <p:spPr>
          <a:xfrm>
            <a:off x="4023360" y="2825496"/>
            <a:ext cx="320040" cy="0"/>
          </a:xfrm>
          <a:prstGeom prst="line">
            <a:avLst/>
          </a:prstGeom>
          <a:noFill/>
          <a:ln w="19050">
            <a:solidFill>
              <a:srgbClr val="F2A541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4480560" y="2514600"/>
            <a:ext cx="4069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healthcheck no db + depends_on: service_healthy + nova tentativa de migração</a:t>
            </a:r>
            <a:endParaRPr lang="en-US" sz="1200" dirty="0"/>
          </a:p>
        </p:txBody>
      </p:sp>
      <p:sp>
        <p:nvSpPr>
          <p:cNvPr id="15" name="challenge-3"/>
          <p:cNvSpPr/>
          <p:nvPr/>
        </p:nvSpPr>
        <p:spPr>
          <a:xfrm>
            <a:off x="457200" y="3246120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246120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Testes não podem depender de banco externo</a:t>
            </a:r>
            <a:endParaRPr lang="en-US" sz="1300" dirty="0"/>
          </a:p>
        </p:txBody>
      </p:sp>
      <p:sp>
        <p:nvSpPr>
          <p:cNvPr id="17" name="challenge-arrow-3"/>
          <p:cNvSpPr/>
          <p:nvPr/>
        </p:nvSpPr>
        <p:spPr>
          <a:xfrm>
            <a:off x="4023360" y="3557016"/>
            <a:ext cx="320040" cy="0"/>
          </a:xfrm>
          <a:prstGeom prst="line">
            <a:avLst/>
          </a:prstGeom>
          <a:noFill/>
          <a:ln w="19050">
            <a:solidFill>
              <a:srgbClr val="F2A541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4480560" y="3246120"/>
            <a:ext cx="4069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WebApplicationFactory com EF Core InMemory no job de testes</a:t>
            </a:r>
            <a:endParaRPr lang="en-US" sz="1200" dirty="0"/>
          </a:p>
        </p:txBody>
      </p:sp>
      <p:sp>
        <p:nvSpPr>
          <p:cNvPr id="19" name="challenge-4"/>
          <p:cNvSpPr/>
          <p:nvPr/>
        </p:nvSpPr>
        <p:spPr>
          <a:xfrm>
            <a:off x="457200" y="3977640"/>
            <a:ext cx="822960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3977640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Comprovar que o deploy funcionou</a:t>
            </a:r>
            <a:endParaRPr lang="en-US" sz="1300" dirty="0"/>
          </a:p>
        </p:txBody>
      </p:sp>
      <p:sp>
        <p:nvSpPr>
          <p:cNvPr id="21" name="challenge-arrow-4"/>
          <p:cNvSpPr/>
          <p:nvPr/>
        </p:nvSpPr>
        <p:spPr>
          <a:xfrm>
            <a:off x="4023360" y="4288536"/>
            <a:ext cx="320040" cy="0"/>
          </a:xfrm>
          <a:prstGeom prst="line">
            <a:avLst/>
          </a:prstGeom>
          <a:noFill/>
          <a:ln w="19050">
            <a:solidFill>
              <a:srgbClr val="F2A541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4480560" y="3977640"/>
            <a:ext cx="4069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Endpoint /health com ambiente e status do banco + smoke tests e artifacts de evidência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 de entrega</a:t>
            </a:r>
            <a:endParaRPr lang="en-US" sz="3000" dirty="0"/>
          </a:p>
        </p:txBody>
      </p:sp>
      <p:graphicFrame>
        <p:nvGraphicFramePr>
          <p:cNvPr id="12" name="checklis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6035040" cy="914400"/>
        </p:xfrm>
        <a:graphic>
          <a:graphicData uri="http://schemas.openxmlformats.org/drawingml/2006/table">
            <a:tbl>
              <a:tblPr/>
              <a:tblGrid>
                <a:gridCol w="5303520"/>
                <a:gridCol w="7315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Item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OK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Projeto compactado em .ZIP com estrutura organizada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☑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Dockerfile funcional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☑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docker-compose.yml ou arquivos Kubernetes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☑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Pipeline com etapas de build, teste e deploy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☑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README.md com instruções e prints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☑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Documentação técnica com evidências (PDF ou PPT)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☑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Deploy realizado nos ambientes staging e produção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☑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F"/>
                    </a:solidFill>
                  </a:tcPr>
                </a:tc>
              </a:tr>
            </a:tbl>
          </a:graphicData>
        </a:graphic>
      </p:graphicFrame>
      <p:sp>
        <p:nvSpPr>
          <p:cNvPr id="4" name="closing-recycle-circle"/>
          <p:cNvSpPr/>
          <p:nvPr/>
        </p:nvSpPr>
        <p:spPr>
          <a:xfrm>
            <a:off x="7086600" y="1463040"/>
            <a:ext cx="1188720" cy="11887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5" name="closing-recycle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3780" y="1760220"/>
            <a:ext cx="594360" cy="59436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720840" y="283464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commit à produção, sem passos manuais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coWaste DevOps">
  <a:themeElements>
    <a:clrScheme name="EcoWaste DevOps">
      <a:dk1>
        <a:srgbClr val="1B2A24"/>
      </a:dk1>
      <a:lt1>
        <a:srgbClr val="FFFFFF"/>
      </a:lt1>
      <a:dk2>
        <a:srgbClr val="163D2E"/>
      </a:dk2>
      <a:lt2>
        <a:srgbClr val="EEF4EF"/>
      </a:lt2>
      <a:accent1>
        <a:srgbClr val="2E8B57"/>
      </a:accent1>
      <a:accent2>
        <a:srgbClr val="F2A541"/>
      </a:accent2>
      <a:accent3>
        <a:srgbClr val="4FB0A5"/>
      </a:accent3>
      <a:accent4>
        <a:srgbClr val="7A8B82"/>
      </a:accent4>
      <a:accent5>
        <a:srgbClr val="C8E6C9"/>
      </a:accent5>
      <a:accent6>
        <a:srgbClr val="D9534F"/>
      </a:accent6>
      <a:hlink>
        <a:srgbClr val="2E8B57"/>
      </a:hlink>
      <a:folHlink>
        <a:srgbClr val="4FB0A5"/>
      </a:folHlink>
    </a:clrScheme>
    <a:fontScheme name="EcoWaste DevOp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EcoWaste - DevOps</dc:title>
  <dc:subject>PptxGenJS Presentation</dc:subject>
  <dc:creator>Pedro Henrique Zanella</dc:creator>
  <cp:lastModifiedBy>Pedro Henrique Zanella</cp:lastModifiedBy>
  <cp:revision>1</cp:revision>
  <dcterms:created xsi:type="dcterms:W3CDTF">2026-10-13T23:20:10Z</dcterms:created>
  <dcterms:modified xsi:type="dcterms:W3CDTF">2026-10-13T23:20:10Z</dcterms:modified>
</cp:coreProperties>
</file>